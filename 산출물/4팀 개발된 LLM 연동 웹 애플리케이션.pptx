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96" d="100"/>
          <a:sy n="96" d="100"/>
        </p:scale>
        <p:origin x="108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C296FA-26D3-4B7E-9EFB-F3F0C97075C6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FA4F78D-880B-4A1B-BAAB-83570C2804C9}">
      <dgm:prSet/>
      <dgm:spPr/>
      <dgm:t>
        <a:bodyPr/>
        <a:lstStyle/>
        <a:p>
          <a:r>
            <a:rPr lang="en-US" b="1"/>
            <a:t>3. </a:t>
          </a:r>
          <a:r>
            <a:rPr lang="ko-KR" b="1"/>
            <a:t>데이터베이스 구성</a:t>
          </a:r>
          <a:endParaRPr lang="en-US"/>
        </a:p>
      </dgm:t>
    </dgm:pt>
    <dgm:pt modelId="{0FD87126-0B45-42E7-878C-A03C4CAB5177}" type="parTrans" cxnId="{A90111EF-93ED-4645-90A6-2DB321D3EEC3}">
      <dgm:prSet/>
      <dgm:spPr/>
      <dgm:t>
        <a:bodyPr/>
        <a:lstStyle/>
        <a:p>
          <a:endParaRPr lang="en-US"/>
        </a:p>
      </dgm:t>
    </dgm:pt>
    <dgm:pt modelId="{81297776-1780-4C9B-A4A5-D2514F5EFAE3}" type="sibTrans" cxnId="{A90111EF-93ED-4645-90A6-2DB321D3EEC3}">
      <dgm:prSet/>
      <dgm:spPr/>
      <dgm:t>
        <a:bodyPr/>
        <a:lstStyle/>
        <a:p>
          <a:endParaRPr lang="en-US"/>
        </a:p>
      </dgm:t>
    </dgm:pt>
    <dgm:pt modelId="{067C3AC8-4792-43E4-8EF8-2DEEB82D4463}">
      <dgm:prSet/>
      <dgm:spPr/>
      <dgm:t>
        <a:bodyPr/>
        <a:lstStyle/>
        <a:p>
          <a:r>
            <a:rPr lang="en-US" b="1"/>
            <a:t>MySQLite</a:t>
          </a:r>
          <a:r>
            <a:rPr lang="en-US"/>
            <a:t>: </a:t>
          </a:r>
          <a:r>
            <a:rPr lang="ko-KR"/>
            <a:t>최신 정보나 자주 변경되는 정형 데이터를 저장하는 데 사용됩니다</a:t>
          </a:r>
          <a:r>
            <a:rPr lang="en-US"/>
            <a:t>.</a:t>
          </a:r>
        </a:p>
      </dgm:t>
    </dgm:pt>
    <dgm:pt modelId="{94112ADF-2CE1-4100-A494-17E047D8C28E}" type="parTrans" cxnId="{FE0B1A3B-B0D7-45BE-9918-678621D8F11E}">
      <dgm:prSet/>
      <dgm:spPr/>
      <dgm:t>
        <a:bodyPr/>
        <a:lstStyle/>
        <a:p>
          <a:endParaRPr lang="en-US"/>
        </a:p>
      </dgm:t>
    </dgm:pt>
    <dgm:pt modelId="{17A04FBE-9D19-4013-B9A1-F9E784841FC2}" type="sibTrans" cxnId="{FE0B1A3B-B0D7-45BE-9918-678621D8F11E}">
      <dgm:prSet/>
      <dgm:spPr/>
      <dgm:t>
        <a:bodyPr/>
        <a:lstStyle/>
        <a:p>
          <a:endParaRPr lang="en-US"/>
        </a:p>
      </dgm:t>
    </dgm:pt>
    <dgm:pt modelId="{33ADB09D-7E73-4C36-9B47-CD4356FDA5C6}">
      <dgm:prSet/>
      <dgm:spPr/>
      <dgm:t>
        <a:bodyPr/>
        <a:lstStyle/>
        <a:p>
          <a:r>
            <a:rPr lang="en-US" b="1"/>
            <a:t>FAISS</a:t>
          </a:r>
          <a:r>
            <a:rPr lang="en-US"/>
            <a:t>: </a:t>
          </a:r>
          <a:r>
            <a:rPr lang="ko-KR"/>
            <a:t>임베딩된 문서 벡터를 저장하여 빠르고 효율적인 유사도 검색을 지원하는 벡터 스토어 역할을 합니다</a:t>
          </a:r>
          <a:r>
            <a:rPr lang="en-US"/>
            <a:t>.</a:t>
          </a:r>
        </a:p>
      </dgm:t>
    </dgm:pt>
    <dgm:pt modelId="{752F01EA-ED30-4C0F-9025-FB74277714F7}" type="parTrans" cxnId="{FE8A499B-88AA-4BE2-AC13-8A83F41B71BD}">
      <dgm:prSet/>
      <dgm:spPr/>
      <dgm:t>
        <a:bodyPr/>
        <a:lstStyle/>
        <a:p>
          <a:endParaRPr lang="en-US"/>
        </a:p>
      </dgm:t>
    </dgm:pt>
    <dgm:pt modelId="{4A20B49F-D213-4D5B-BADA-7A5868EE8100}" type="sibTrans" cxnId="{FE8A499B-88AA-4BE2-AC13-8A83F41B71BD}">
      <dgm:prSet/>
      <dgm:spPr/>
      <dgm:t>
        <a:bodyPr/>
        <a:lstStyle/>
        <a:p>
          <a:endParaRPr lang="en-US"/>
        </a:p>
      </dgm:t>
    </dgm:pt>
    <dgm:pt modelId="{77DC665F-70C8-4D5B-AA4C-6F35A656556C}" type="pres">
      <dgm:prSet presAssocID="{2AC296FA-26D3-4B7E-9EFB-F3F0C97075C6}" presName="linear" presStyleCnt="0">
        <dgm:presLayoutVars>
          <dgm:animLvl val="lvl"/>
          <dgm:resizeHandles val="exact"/>
        </dgm:presLayoutVars>
      </dgm:prSet>
      <dgm:spPr/>
    </dgm:pt>
    <dgm:pt modelId="{750AD7AB-3918-4B73-80E9-29ECFBB002A3}" type="pres">
      <dgm:prSet presAssocID="{6FA4F78D-880B-4A1B-BAAB-83570C2804C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69199A8-8B38-4389-B846-B0B47BCCF060}" type="pres">
      <dgm:prSet presAssocID="{81297776-1780-4C9B-A4A5-D2514F5EFAE3}" presName="spacer" presStyleCnt="0"/>
      <dgm:spPr/>
    </dgm:pt>
    <dgm:pt modelId="{A72B7313-E2B1-46B9-9EE4-B2A0412E1067}" type="pres">
      <dgm:prSet presAssocID="{067C3AC8-4792-43E4-8EF8-2DEEB82D446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0B1374E-145C-45F6-89D4-274137B25984}" type="pres">
      <dgm:prSet presAssocID="{17A04FBE-9D19-4013-B9A1-F9E784841FC2}" presName="spacer" presStyleCnt="0"/>
      <dgm:spPr/>
    </dgm:pt>
    <dgm:pt modelId="{898E1B03-AB93-4CC3-90D6-CB55B03126C9}" type="pres">
      <dgm:prSet presAssocID="{33ADB09D-7E73-4C36-9B47-CD4356FDA5C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F1E0603-E453-44B6-92C1-0BE314C96B9F}" type="presOf" srcId="{2AC296FA-26D3-4B7E-9EFB-F3F0C97075C6}" destId="{77DC665F-70C8-4D5B-AA4C-6F35A656556C}" srcOrd="0" destOrd="0" presId="urn:microsoft.com/office/officeart/2005/8/layout/vList2"/>
    <dgm:cxn modelId="{E8F71424-60AC-4019-88EF-920D7D8DEB7D}" type="presOf" srcId="{33ADB09D-7E73-4C36-9B47-CD4356FDA5C6}" destId="{898E1B03-AB93-4CC3-90D6-CB55B03126C9}" srcOrd="0" destOrd="0" presId="urn:microsoft.com/office/officeart/2005/8/layout/vList2"/>
    <dgm:cxn modelId="{FE0B1A3B-B0D7-45BE-9918-678621D8F11E}" srcId="{2AC296FA-26D3-4B7E-9EFB-F3F0C97075C6}" destId="{067C3AC8-4792-43E4-8EF8-2DEEB82D4463}" srcOrd="1" destOrd="0" parTransId="{94112ADF-2CE1-4100-A494-17E047D8C28E}" sibTransId="{17A04FBE-9D19-4013-B9A1-F9E784841FC2}"/>
    <dgm:cxn modelId="{FE8A499B-88AA-4BE2-AC13-8A83F41B71BD}" srcId="{2AC296FA-26D3-4B7E-9EFB-F3F0C97075C6}" destId="{33ADB09D-7E73-4C36-9B47-CD4356FDA5C6}" srcOrd="2" destOrd="0" parTransId="{752F01EA-ED30-4C0F-9025-FB74277714F7}" sibTransId="{4A20B49F-D213-4D5B-BADA-7A5868EE8100}"/>
    <dgm:cxn modelId="{71B88EA2-C0F5-4D5A-AF05-36D849E8D33E}" type="presOf" srcId="{6FA4F78D-880B-4A1B-BAAB-83570C2804C9}" destId="{750AD7AB-3918-4B73-80E9-29ECFBB002A3}" srcOrd="0" destOrd="0" presId="urn:microsoft.com/office/officeart/2005/8/layout/vList2"/>
    <dgm:cxn modelId="{A90111EF-93ED-4645-90A6-2DB321D3EEC3}" srcId="{2AC296FA-26D3-4B7E-9EFB-F3F0C97075C6}" destId="{6FA4F78D-880B-4A1B-BAAB-83570C2804C9}" srcOrd="0" destOrd="0" parTransId="{0FD87126-0B45-42E7-878C-A03C4CAB5177}" sibTransId="{81297776-1780-4C9B-A4A5-D2514F5EFAE3}"/>
    <dgm:cxn modelId="{173489F7-62C6-4F94-8C54-D4D1943AC66C}" type="presOf" srcId="{067C3AC8-4792-43E4-8EF8-2DEEB82D4463}" destId="{A72B7313-E2B1-46B9-9EE4-B2A0412E1067}" srcOrd="0" destOrd="0" presId="urn:microsoft.com/office/officeart/2005/8/layout/vList2"/>
    <dgm:cxn modelId="{B545926F-36FF-4B84-9776-46D960C6B8A2}" type="presParOf" srcId="{77DC665F-70C8-4D5B-AA4C-6F35A656556C}" destId="{750AD7AB-3918-4B73-80E9-29ECFBB002A3}" srcOrd="0" destOrd="0" presId="urn:microsoft.com/office/officeart/2005/8/layout/vList2"/>
    <dgm:cxn modelId="{12FBA0E1-2111-4155-9BC7-2E5C3E1B0B1A}" type="presParOf" srcId="{77DC665F-70C8-4D5B-AA4C-6F35A656556C}" destId="{A69199A8-8B38-4389-B846-B0B47BCCF060}" srcOrd="1" destOrd="0" presId="urn:microsoft.com/office/officeart/2005/8/layout/vList2"/>
    <dgm:cxn modelId="{147F95FD-49C6-41AA-8B1E-A9A6AF635AC3}" type="presParOf" srcId="{77DC665F-70C8-4D5B-AA4C-6F35A656556C}" destId="{A72B7313-E2B1-46B9-9EE4-B2A0412E1067}" srcOrd="2" destOrd="0" presId="urn:microsoft.com/office/officeart/2005/8/layout/vList2"/>
    <dgm:cxn modelId="{C700688D-64D7-4B71-B802-BB0C317F04EA}" type="presParOf" srcId="{77DC665F-70C8-4D5B-AA4C-6F35A656556C}" destId="{10B1374E-145C-45F6-89D4-274137B25984}" srcOrd="3" destOrd="0" presId="urn:microsoft.com/office/officeart/2005/8/layout/vList2"/>
    <dgm:cxn modelId="{D5326683-489B-4C71-8BB4-7C90A948A2AE}" type="presParOf" srcId="{77DC665F-70C8-4D5B-AA4C-6F35A656556C}" destId="{898E1B03-AB93-4CC3-90D6-CB55B03126C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0AD7AB-3918-4B73-80E9-29ECFBB002A3}">
      <dsp:nvSpPr>
        <dsp:cNvPr id="0" name=""/>
        <dsp:cNvSpPr/>
      </dsp:nvSpPr>
      <dsp:spPr>
        <a:xfrm>
          <a:off x="0" y="52855"/>
          <a:ext cx="5029199" cy="157371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3. </a:t>
          </a:r>
          <a:r>
            <a:rPr lang="ko-KR" sz="2100" b="1" kern="1200"/>
            <a:t>데이터베이스 구성</a:t>
          </a:r>
          <a:endParaRPr lang="en-US" sz="2100" kern="1200"/>
        </a:p>
      </dsp:txBody>
      <dsp:txXfrm>
        <a:off x="76822" y="129677"/>
        <a:ext cx="4875555" cy="1420071"/>
      </dsp:txXfrm>
    </dsp:sp>
    <dsp:sp modelId="{A72B7313-E2B1-46B9-9EE4-B2A0412E1067}">
      <dsp:nvSpPr>
        <dsp:cNvPr id="0" name=""/>
        <dsp:cNvSpPr/>
      </dsp:nvSpPr>
      <dsp:spPr>
        <a:xfrm>
          <a:off x="0" y="1687051"/>
          <a:ext cx="5029199" cy="1573715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MySQLite</a:t>
          </a:r>
          <a:r>
            <a:rPr lang="en-US" sz="2100" kern="1200"/>
            <a:t>: </a:t>
          </a:r>
          <a:r>
            <a:rPr lang="ko-KR" sz="2100" kern="1200"/>
            <a:t>최신 정보나 자주 변경되는 정형 데이터를 저장하는 데 사용됩니다</a:t>
          </a:r>
          <a:r>
            <a:rPr lang="en-US" sz="2100" kern="1200"/>
            <a:t>.</a:t>
          </a:r>
        </a:p>
      </dsp:txBody>
      <dsp:txXfrm>
        <a:off x="76822" y="1763873"/>
        <a:ext cx="4875555" cy="1420071"/>
      </dsp:txXfrm>
    </dsp:sp>
    <dsp:sp modelId="{898E1B03-AB93-4CC3-90D6-CB55B03126C9}">
      <dsp:nvSpPr>
        <dsp:cNvPr id="0" name=""/>
        <dsp:cNvSpPr/>
      </dsp:nvSpPr>
      <dsp:spPr>
        <a:xfrm>
          <a:off x="0" y="3321246"/>
          <a:ext cx="5029199" cy="1573715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FAISS</a:t>
          </a:r>
          <a:r>
            <a:rPr lang="en-US" sz="2100" kern="1200"/>
            <a:t>: </a:t>
          </a:r>
          <a:r>
            <a:rPr lang="ko-KR" sz="2100" kern="1200"/>
            <a:t>임베딩된 문서 벡터를 저장하여 빠르고 효율적인 유사도 검색을 지원하는 벡터 스토어 역할을 합니다</a:t>
          </a:r>
          <a:r>
            <a:rPr lang="en-US" sz="2100" kern="1200"/>
            <a:t>.</a:t>
          </a:r>
        </a:p>
      </dsp:txBody>
      <dsp:txXfrm>
        <a:off x="76822" y="3398068"/>
        <a:ext cx="4875555" cy="14200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705D6D-C376-76DD-7B83-5A1C696E75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95BD703-6F90-E7C0-E6DE-7544588DD4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ECBB1A-74E8-4A76-0660-76D58866E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6F91B-3671-4523-8424-630F3103EDBE}" type="datetimeFigureOut">
              <a:rPr lang="ko-KR" altLang="en-US" smtClean="0"/>
              <a:t>2025-07-01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AC6F92-6D2B-D92D-B539-986E30CFD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C91216-89F0-3163-8715-7602CCD5F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8C2E9-FC6B-4015-9FF7-144490BF6A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9145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318BFA-51A4-97A3-C4B3-7991C069E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4254C3-5D5F-4D06-7E35-D08DB3EAA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7070DE-FDF2-416A-F3F1-DA85804D1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6F91B-3671-4523-8424-630F3103EDBE}" type="datetimeFigureOut">
              <a:rPr lang="ko-KR" altLang="en-US" smtClean="0"/>
              <a:t>2025-07-01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8C4BC9-4DF4-7EBA-8C61-AB2F0EC96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7AF684-0F6B-1A6F-EC70-7E29C81C9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8C2E9-FC6B-4015-9FF7-144490BF6A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3519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EC7893-AD3F-77D1-4BD5-AE671831D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D818E7-CC83-E547-3720-27E736D9BB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D1979C-B07A-F4DD-AA03-5A86BEFF0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6F91B-3671-4523-8424-630F3103EDBE}" type="datetimeFigureOut">
              <a:rPr lang="ko-KR" altLang="en-US" smtClean="0"/>
              <a:t>2025-07-01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8BE34D-C723-1D0A-8D6A-C69BB7C22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53CCEA-5999-FA5B-D4E3-77808C5FD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8C2E9-FC6B-4015-9FF7-144490BF6A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6801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A8E61B-08B0-FE9B-B31F-B5907955E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4CEE22-D7AD-C4C5-D87B-F66DAEA725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CEB3892-791F-B333-DFAC-8A00C65FA3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42D27CD-8B98-346D-9169-9FB0D3D4F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6F91B-3671-4523-8424-630F3103EDBE}" type="datetimeFigureOut">
              <a:rPr lang="ko-KR" altLang="en-US" smtClean="0"/>
              <a:t>2025-07-01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FBBFA1-8349-D8D1-BAC6-1D9B81475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021ED29-92CE-08D6-A4B8-8C8F2C892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8C2E9-FC6B-4015-9FF7-144490BF6A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9554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273D73-ED54-4696-2994-66A06C434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42E135-5645-5D01-44A7-37DC7EAB41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F23F377-E214-745E-E333-F1AD82FE03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9DFE086-BD7B-0082-3739-993013A3A0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AAC703E-1B3C-207B-466F-62E22EEB16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A272B08-D448-54B1-77F0-79541DFA3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6F91B-3671-4523-8424-630F3103EDBE}" type="datetimeFigureOut">
              <a:rPr lang="ko-KR" altLang="en-US" smtClean="0"/>
              <a:t>2025-07-01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8E7AAC4-7C85-82F6-A73E-D5241F115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9A24E7-E224-73EB-FDE8-553A0E2B4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8C2E9-FC6B-4015-9FF7-144490BF6A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4380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CDBC68-1C34-935B-184F-1F2672CDF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6600DAC-5A16-9B0C-E7D7-D8F9C9464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6F91B-3671-4523-8424-630F3103EDBE}" type="datetimeFigureOut">
              <a:rPr lang="ko-KR" altLang="en-US" smtClean="0"/>
              <a:t>2025-07-01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04C7DB5-7719-F2C5-5B77-CE2B60F23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8AE3B30-A6B9-5442-563F-0B43F42B7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8C2E9-FC6B-4015-9FF7-144490BF6A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7128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0665865-7BE0-17DC-2B57-9D5F7B1FC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6F91B-3671-4523-8424-630F3103EDBE}" type="datetimeFigureOut">
              <a:rPr lang="ko-KR" altLang="en-US" smtClean="0"/>
              <a:t>2025-07-01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0EF365A-B11B-E8D5-72B6-A706205FD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FB0B31-E827-2886-F875-C2D157FB3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8C2E9-FC6B-4015-9FF7-144490BF6A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8825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78C980-3718-8737-A19B-AF7C9CB83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71F2C2-5A12-8E75-6BFB-01CC61ABB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67C388-F4ED-7F56-597B-3FC1A92E57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DE7E83-E070-4CDC-35D3-BC376ADEA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6F91B-3671-4523-8424-630F3103EDBE}" type="datetimeFigureOut">
              <a:rPr lang="ko-KR" altLang="en-US" smtClean="0"/>
              <a:t>2025-07-01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0A25FB-0B24-C7E8-5B97-00C5B3F36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B36787F-6C49-F69F-C84A-A652664EC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8C2E9-FC6B-4015-9FF7-144490BF6A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108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DF3EFD-A452-CE90-2B69-90851EA3F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7E185C1-530E-39D2-AC64-8A30049246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D5B0251-983E-08F0-8AC2-68AA0F9E07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B3795D-24BA-F070-B08F-8B7EB00AD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6F91B-3671-4523-8424-630F3103EDBE}" type="datetimeFigureOut">
              <a:rPr lang="ko-KR" altLang="en-US" smtClean="0"/>
              <a:t>2025-07-01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66E51E-1C2E-31C5-3819-201CA8BC0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0B518F-A743-4926-D3E3-104D67E7B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8C2E9-FC6B-4015-9FF7-144490BF6A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7703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1FD15A-0A6D-60AD-41EF-7981DA641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E763C31-9CDB-1CD7-009E-548986B89C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DB2207-A7C9-3BC0-00CD-B2D027955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6F91B-3671-4523-8424-630F3103EDBE}" type="datetimeFigureOut">
              <a:rPr lang="ko-KR" altLang="en-US" smtClean="0"/>
              <a:t>2025-07-01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B31345-9383-4C92-E1F1-090DC68DC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8F9C77-B1B2-7A85-2F21-91AE4F104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8C2E9-FC6B-4015-9FF7-144490BF6A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5547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93272-5290-B255-60EC-C95F945E44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84D6A08-C9D8-94C6-C875-925B73E24B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EB86BC-C7B8-3EF3-96D7-F031187B7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6F91B-3671-4523-8424-630F3103EDBE}" type="datetimeFigureOut">
              <a:rPr lang="ko-KR" altLang="en-US" smtClean="0"/>
              <a:t>2025-07-01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AF139A-4BA4-98DB-55B3-BBFE8242B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6A0363-EA9A-A7BC-13CB-B88880FCF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8C2E9-FC6B-4015-9FF7-144490BF6A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2782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51FE0B1-6726-3FC4-CA9E-113B89A60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4D2D7C6-2E0A-02E3-B9AB-CE192A138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195266-0AA5-9C8B-6A02-966E5EBA63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96F91B-3671-4523-8424-630F3103EDBE}" type="datetimeFigureOut">
              <a:rPr lang="ko-KR" altLang="en-US" smtClean="0"/>
              <a:t>2025-07-01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BEEE29-2B53-95B0-6707-3A8EFE5E44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B069B9-FA5A-C328-4E21-999917622A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48C2E9-FC6B-4015-9FF7-144490BF6A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9974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멀티미디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124F79-09E2-DACE-28DD-A6588AAB4A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609" y="0"/>
            <a:ext cx="112627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189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DJ">
            <a:extLst>
              <a:ext uri="{FF2B5EF4-FFF2-40B4-BE49-F238E27FC236}">
                <a16:creationId xmlns:a16="http://schemas.microsoft.com/office/drawing/2014/main" id="{C06BFC54-756C-F8AF-3701-C25BFED4A9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B2BF02-FE73-857C-51E6-3E779F24F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en-US" altLang="ko-KR" sz="1800" b="1">
                <a:solidFill>
                  <a:schemeClr val="tx2"/>
                </a:solidFill>
              </a:rPr>
              <a:t>1. </a:t>
            </a:r>
            <a:r>
              <a:rPr lang="ko-KR" altLang="en-US" sz="1800" b="1">
                <a:solidFill>
                  <a:schemeClr val="tx2"/>
                </a:solidFill>
              </a:rPr>
              <a:t>시스템 개요</a:t>
            </a:r>
          </a:p>
          <a:p>
            <a:r>
              <a:rPr lang="ko-KR" altLang="en-US" sz="1800">
                <a:solidFill>
                  <a:schemeClr val="tx2"/>
                </a:solidFill>
              </a:rPr>
              <a:t>본 문서는 제공된 구성도를 바탕으로 개발된 </a:t>
            </a:r>
            <a:r>
              <a:rPr lang="en-US" altLang="ko-KR" sz="1800">
                <a:solidFill>
                  <a:schemeClr val="tx2"/>
                </a:solidFill>
              </a:rPr>
              <a:t>LLM </a:t>
            </a:r>
            <a:r>
              <a:rPr lang="ko-KR" altLang="en-US" sz="1800">
                <a:solidFill>
                  <a:schemeClr val="tx2"/>
                </a:solidFill>
              </a:rPr>
              <a:t>연동 웹 애플리케이션의 아키텍처를 설명합니다</a:t>
            </a:r>
            <a:r>
              <a:rPr lang="en-US" altLang="ko-KR" sz="1800">
                <a:solidFill>
                  <a:schemeClr val="tx2"/>
                </a:solidFill>
              </a:rPr>
              <a:t>. </a:t>
            </a:r>
            <a:r>
              <a:rPr lang="ko-KR" altLang="en-US" sz="1800">
                <a:solidFill>
                  <a:schemeClr val="tx2"/>
                </a:solidFill>
              </a:rPr>
              <a:t>이 시스템은 </a:t>
            </a:r>
            <a:r>
              <a:rPr lang="en-US" altLang="ko-KR" sz="1800" b="1">
                <a:solidFill>
                  <a:schemeClr val="tx2"/>
                </a:solidFill>
              </a:rPr>
              <a:t>Django</a:t>
            </a:r>
            <a:r>
              <a:rPr lang="ko-KR" altLang="en-US" sz="1800">
                <a:solidFill>
                  <a:schemeClr val="tx2"/>
                </a:solidFill>
              </a:rPr>
              <a:t> 프레임워크를 기반으로 하며 </a:t>
            </a:r>
            <a:r>
              <a:rPr lang="en-US" altLang="ko-KR" sz="1800" b="1">
                <a:solidFill>
                  <a:schemeClr val="tx2"/>
                </a:solidFill>
              </a:rPr>
              <a:t>Google Cloud</a:t>
            </a:r>
            <a:r>
              <a:rPr lang="ko-KR" altLang="en-US" sz="1800">
                <a:solidFill>
                  <a:schemeClr val="tx2"/>
                </a:solidFill>
              </a:rPr>
              <a:t>에 배포됩니다</a:t>
            </a:r>
            <a:r>
              <a:rPr lang="en-US" altLang="ko-KR" sz="1800">
                <a:solidFill>
                  <a:schemeClr val="tx2"/>
                </a:solidFill>
              </a:rPr>
              <a:t>. </a:t>
            </a:r>
            <a:r>
              <a:rPr lang="ko-KR" altLang="en-US" sz="1800">
                <a:solidFill>
                  <a:schemeClr val="tx2"/>
                </a:solidFill>
              </a:rPr>
              <a:t>사용자의 질문에 대해 다중 소스</a:t>
            </a:r>
            <a:r>
              <a:rPr lang="en-US" altLang="ko-KR" sz="1800">
                <a:solidFill>
                  <a:schemeClr val="tx2"/>
                </a:solidFill>
              </a:rPr>
              <a:t>(DB, </a:t>
            </a:r>
            <a:r>
              <a:rPr lang="ko-KR" altLang="en-US" sz="1800">
                <a:solidFill>
                  <a:schemeClr val="tx2"/>
                </a:solidFill>
              </a:rPr>
              <a:t>벡터</a:t>
            </a:r>
            <a:r>
              <a:rPr lang="en-US" altLang="ko-KR" sz="1800">
                <a:solidFill>
                  <a:schemeClr val="tx2"/>
                </a:solidFill>
              </a:rPr>
              <a:t>, </a:t>
            </a:r>
            <a:r>
              <a:rPr lang="ko-KR" altLang="en-US" sz="1800">
                <a:solidFill>
                  <a:schemeClr val="tx2"/>
                </a:solidFill>
              </a:rPr>
              <a:t>웹</a:t>
            </a:r>
            <a:r>
              <a:rPr lang="en-US" altLang="ko-KR" sz="1800">
                <a:solidFill>
                  <a:schemeClr val="tx2"/>
                </a:solidFill>
              </a:rPr>
              <a:t>, API)</a:t>
            </a:r>
            <a:r>
              <a:rPr lang="ko-KR" altLang="en-US" sz="1800">
                <a:solidFill>
                  <a:schemeClr val="tx2"/>
                </a:solidFill>
              </a:rPr>
              <a:t>에서 정보를 수집하고</a:t>
            </a:r>
            <a:r>
              <a:rPr lang="en-US" altLang="ko-KR" sz="1800">
                <a:solidFill>
                  <a:schemeClr val="tx2"/>
                </a:solidFill>
              </a:rPr>
              <a:t>, </a:t>
            </a:r>
            <a:r>
              <a:rPr lang="ko-KR" altLang="en-US" sz="1800">
                <a:solidFill>
                  <a:schemeClr val="tx2"/>
                </a:solidFill>
              </a:rPr>
              <a:t>이를 정교하게 재구성하여 신뢰도 높은 답변을 생성하는 </a:t>
            </a:r>
            <a:r>
              <a:rPr lang="ko-KR" altLang="en-US" sz="1800" b="1">
                <a:solidFill>
                  <a:schemeClr val="tx2"/>
                </a:solidFill>
              </a:rPr>
              <a:t>고도화된 </a:t>
            </a:r>
            <a:r>
              <a:rPr lang="en-US" altLang="ko-KR" sz="1800" b="1">
                <a:solidFill>
                  <a:schemeClr val="tx2"/>
                </a:solidFill>
              </a:rPr>
              <a:t>RAG(</a:t>
            </a:r>
            <a:r>
              <a:rPr lang="ko-KR" altLang="en-US" sz="1800" b="1">
                <a:solidFill>
                  <a:schemeClr val="tx2"/>
                </a:solidFill>
              </a:rPr>
              <a:t>검색 증강 생성</a:t>
            </a:r>
            <a:r>
              <a:rPr lang="en-US" altLang="ko-KR" sz="1800" b="1">
                <a:solidFill>
                  <a:schemeClr val="tx2"/>
                </a:solidFill>
              </a:rPr>
              <a:t>) </a:t>
            </a:r>
            <a:r>
              <a:rPr lang="ko-KR" altLang="en-US" sz="1800" b="1">
                <a:solidFill>
                  <a:schemeClr val="tx2"/>
                </a:solidFill>
              </a:rPr>
              <a:t>파이프라인</a:t>
            </a:r>
            <a:r>
              <a:rPr lang="ko-KR" altLang="en-US" sz="1800">
                <a:solidFill>
                  <a:schemeClr val="tx2"/>
                </a:solidFill>
              </a:rPr>
              <a:t>을 갖춘 것이 핵심 특징입니다</a:t>
            </a:r>
            <a:r>
              <a:rPr lang="en-US" altLang="ko-KR" sz="1800">
                <a:solidFill>
                  <a:schemeClr val="tx2"/>
                </a:solidFill>
              </a:rPr>
              <a:t>.</a:t>
            </a:r>
          </a:p>
          <a:p>
            <a:endParaRPr lang="ko-KR" altLang="en-US" sz="180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55713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5BA0F7E5-16A8-2DED-8F6C-17FB008FCD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30017" y="195518"/>
            <a:ext cx="9763407" cy="648162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 lnSpcReduction="1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2. 시스템 아키텍처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본 시스템은 크게 </a:t>
            </a: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프론트엔드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백엔드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Django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, 그리고 핵심 기능인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RAG 파이프라인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으로 구성됩니다.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ko-KR" altLang="ko-KR" sz="10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2.1. </a:t>
            </a: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프론트엔드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및 </a:t>
            </a: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백엔드</a:t>
            </a:r>
            <a:endParaRPr kumimoji="0" lang="ko-KR" altLang="ko-KR" sz="10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프론트엔드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Frontend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사용자 인터페이스는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HTML5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로 구성됩니다.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사용자는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회원가입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을 하거나,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ID/</a:t>
            </a: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Password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또는 **Google 계정(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OAuth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)**을 이용해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로그인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할 수 있습니다.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백엔드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Backend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- </a:t>
            </a: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Django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사용자 인증 및 세션 관리를 담당합니다.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사용자의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챗봇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질문을 받아 RAG 파이프라인으로 전달하는 라우팅 역할을 수행합니다. </a:t>
            </a:r>
            <a:endParaRPr kumimoji="0" lang="en-US" altLang="ko-KR" sz="1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특히 </a:t>
            </a: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FAISS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를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활용한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유사도 기반 라우팅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기능을 포함하여 초기 단계에서 효율적인 처리를 유도합니다.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ko-KR" altLang="ko-KR" sz="10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2.2. RAG (검색 증강 생성) 파이프라인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사용자의 질문에 대한 최적의 답변을 생성하기 위한 다단계 파이프라인입니다.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쿼리 확장 및 1차 검색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사용자 질문을 </a:t>
            </a: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ChatGPT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를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이용해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키워드 생성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등 검색에 용이한 형태로 확장합니다.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확장된 쿼리로 </a:t>
            </a: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MySQLite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DB에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저장된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신규/정형 데이터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를 검색합니다.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2"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다중 소스 정보 검색 (</a:t>
            </a: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Multi-Source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Retrieval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벡터 검색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 Unicode MS"/>
              </a:rPr>
              <a:t>KURE V1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</a:rPr>
              <a:t>임베딩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 모델을 통해 사용자 질문을 벡터로 변환하고,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FAISS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벡터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DB에서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의미적으로 유사한 문서를 검색합니다.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웹/이미지 검색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ChatGPT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와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Bing 검색 </a:t>
            </a: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API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를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연동하여 웹에서 관련 텍스트 및 선수 사진과 같은 이미지 정보를 수집합니다.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3"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정보 재순위화 및 통합 (</a:t>
            </a: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Rerank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&amp; </a:t>
            </a: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Integration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DB, 벡터, 웹에서 검색된 모든 정보를 한데 모읍니다.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 Unicode MS"/>
              </a:rPr>
              <a:t>bge-reranker-v2-m3.ko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와 같은 </a:t>
            </a: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ReRank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모델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이 이 정보들의 연관성을 다시 분석하여 질문과 가장 관련성이 높은 순으로 정렬합니다.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정렬된 정보에 더해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네이버 검색 </a:t>
            </a: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API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를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호출하여 추가적인 데이터를 추출하고 내용을 보강합니다.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4"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최종 답변 생성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정제되고 보강된 최종 컨텍스트를 </a:t>
            </a: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ChatGPT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에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전달하여 자연스러운 답변을 생성합니다.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생성된 답변은 필요에 따라 내장 함수(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 Unicode MS"/>
              </a:rPr>
              <a:t>F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 Unicode MS"/>
              </a:rPr>
              <a:t>(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 Unicode MS"/>
              </a:rPr>
              <a:t>X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 Unicode MS"/>
              </a:rPr>
              <a:t>)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)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</a:rPr>
              <a:t>를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 통해 추가 가공되며, 최종적으로 사용자에게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마크다운 형식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으로 정리되어 제공됩니다.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ko-KR" altLang="ko-KR" sz="10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2.3. </a:t>
            </a: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LangChain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에이전트 및 비용 최적화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RAG 파이프라인과는 별도로, 특정 작업을 위한 </a:t>
            </a: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LangChain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에이전트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가 구성되어 있습니다.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이 에이전트는 </a:t>
            </a: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ChatGPT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를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LLM으로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사용하며, 단순 요약과 같이 정해진 작업의 경우 복잡한 RAG 파이프라인을 거치지 않고 내장 함수(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 Unicode MS"/>
              </a:rPr>
              <a:t>F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 Unicode MS"/>
              </a:rPr>
              <a:t>(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 Unicode MS"/>
              </a:rPr>
              <a:t>X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 Unicode MS"/>
              </a:rPr>
              <a:t>)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)만으로 처리하여 </a:t>
            </a:r>
            <a:endParaRPr kumimoji="0" lang="en-US" altLang="ko-KR" sz="1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API 호출 비용(</a:t>
            </a: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cost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)을 개선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하는 역할을 합니다.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ko-KR" altLang="ko-KR" sz="1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0134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8086AEC-04C2-4BC4-BFB8-0135965C7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C3BE3F-B8A9-4DC9-A867-EC91736FAA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CA2F3D1-53F2-478B-949B-6D4EA2E4E4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455386"/>
            <a:ext cx="5378624" cy="6402614"/>
            <a:chOff x="-19221" y="197691"/>
            <a:chExt cx="5378624" cy="6402614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53A4EE-6F9B-4EC8-9840-708F509D9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D8289AA-777C-4230-BABC-203458BF6C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9D76777-71BF-4FFF-B568-E58E46EB1C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2CDCD53-6393-431A-9E75-109BC83622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A62198F-7D76-4A2A-9669-40E5E8A3C8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97691"/>
              <a:ext cx="5378623" cy="6402614"/>
            </a:xfrm>
            <a:custGeom>
              <a:avLst/>
              <a:gdLst>
                <a:gd name="connsiteX0" fmla="*/ 2220349 w 5378623"/>
                <a:gd name="connsiteY0" fmla="*/ 67 h 6402614"/>
                <a:gd name="connsiteX1" fmla="*/ 3018161 w 5378623"/>
                <a:gd name="connsiteY1" fmla="*/ 108191 h 6402614"/>
                <a:gd name="connsiteX2" fmla="*/ 5265831 w 5378623"/>
                <a:gd name="connsiteY2" fmla="*/ 4066338 h 6402614"/>
                <a:gd name="connsiteX3" fmla="*/ 2912752 w 5378623"/>
                <a:gd name="connsiteY3" fmla="*/ 6386691 h 6402614"/>
                <a:gd name="connsiteX4" fmla="*/ 2840648 w 5378623"/>
                <a:gd name="connsiteY4" fmla="*/ 6402614 h 6402614"/>
                <a:gd name="connsiteX5" fmla="*/ 1474249 w 5378623"/>
                <a:gd name="connsiteY5" fmla="*/ 6402614 h 6402614"/>
                <a:gd name="connsiteX6" fmla="*/ 1340218 w 5378623"/>
                <a:gd name="connsiteY6" fmla="*/ 6370360 h 6402614"/>
                <a:gd name="connsiteX7" fmla="*/ 204687 w 5378623"/>
                <a:gd name="connsiteY7" fmla="*/ 5802379 h 6402614"/>
                <a:gd name="connsiteX8" fmla="*/ 0 w 5378623"/>
                <a:gd name="connsiteY8" fmla="*/ 5624181 h 6402614"/>
                <a:gd name="connsiteX9" fmla="*/ 0 w 5378623"/>
                <a:gd name="connsiteY9" fmla="*/ 5197118 h 6402614"/>
                <a:gd name="connsiteX10" fmla="*/ 120950 w 5378623"/>
                <a:gd name="connsiteY10" fmla="*/ 5327736 h 6402614"/>
                <a:gd name="connsiteX11" fmla="*/ 553277 w 5378623"/>
                <a:gd name="connsiteY11" fmla="*/ 5674143 h 6402614"/>
                <a:gd name="connsiteX12" fmla="*/ 1048951 w 5378623"/>
                <a:gd name="connsiteY12" fmla="*/ 5913372 h 6402614"/>
                <a:gd name="connsiteX13" fmla="*/ 1114406 w 5378623"/>
                <a:gd name="connsiteY13" fmla="*/ 5935664 h 6402614"/>
                <a:gd name="connsiteX14" fmla="*/ 1180375 w 5378623"/>
                <a:gd name="connsiteY14" fmla="*/ 5956470 h 6402614"/>
                <a:gd name="connsiteX15" fmla="*/ 1247107 w 5378623"/>
                <a:gd name="connsiteY15" fmla="*/ 5975278 h 6402614"/>
                <a:gd name="connsiteX16" fmla="*/ 1313053 w 5378623"/>
                <a:gd name="connsiteY16" fmla="*/ 5991905 h 6402614"/>
                <a:gd name="connsiteX17" fmla="*/ 1578771 w 5378623"/>
                <a:gd name="connsiteY17" fmla="*/ 6035400 h 6402614"/>
                <a:gd name="connsiteX18" fmla="*/ 2116969 w 5378623"/>
                <a:gd name="connsiteY18" fmla="*/ 6005033 h 6402614"/>
                <a:gd name="connsiteX19" fmla="*/ 2648341 w 5378623"/>
                <a:gd name="connsiteY19" fmla="*/ 5837212 h 6402614"/>
                <a:gd name="connsiteX20" fmla="*/ 3166862 w 5378623"/>
                <a:gd name="connsiteY20" fmla="*/ 5582136 h 6402614"/>
                <a:gd name="connsiteX21" fmla="*/ 3295551 w 5378623"/>
                <a:gd name="connsiteY21" fmla="*/ 5510900 h 6402614"/>
                <a:gd name="connsiteX22" fmla="*/ 3426292 w 5378623"/>
                <a:gd name="connsiteY22" fmla="*/ 5437546 h 6402614"/>
                <a:gd name="connsiteX23" fmla="*/ 3693498 w 5378623"/>
                <a:gd name="connsiteY23" fmla="*/ 5296779 h 6402614"/>
                <a:gd name="connsiteX24" fmla="*/ 3957511 w 5378623"/>
                <a:gd name="connsiteY24" fmla="*/ 5162806 h 6402614"/>
                <a:gd name="connsiteX25" fmla="*/ 4212170 w 5378623"/>
                <a:gd name="connsiteY25" fmla="*/ 5024936 h 6402614"/>
                <a:gd name="connsiteX26" fmla="*/ 4449651 w 5378623"/>
                <a:gd name="connsiteY26" fmla="*/ 4870986 h 6402614"/>
                <a:gd name="connsiteX27" fmla="*/ 4659728 w 5378623"/>
                <a:gd name="connsiteY27" fmla="*/ 4689640 h 6402614"/>
                <a:gd name="connsiteX28" fmla="*/ 4830457 w 5378623"/>
                <a:gd name="connsiteY28" fmla="*/ 4472596 h 6402614"/>
                <a:gd name="connsiteX29" fmla="*/ 4955705 w 5378623"/>
                <a:gd name="connsiteY29" fmla="*/ 4222268 h 6402614"/>
                <a:gd name="connsiteX30" fmla="*/ 4968352 w 5378623"/>
                <a:gd name="connsiteY30" fmla="*/ 4189141 h 6402614"/>
                <a:gd name="connsiteX31" fmla="*/ 4979564 w 5378623"/>
                <a:gd name="connsiteY31" fmla="*/ 4155400 h 6402614"/>
                <a:gd name="connsiteX32" fmla="*/ 4990913 w 5378623"/>
                <a:gd name="connsiteY32" fmla="*/ 4121577 h 6402614"/>
                <a:gd name="connsiteX33" fmla="*/ 5000865 w 5378623"/>
                <a:gd name="connsiteY33" fmla="*/ 4086570 h 6402614"/>
                <a:gd name="connsiteX34" fmla="*/ 5020612 w 5378623"/>
                <a:gd name="connsiteY34" fmla="*/ 4016281 h 6402614"/>
                <a:gd name="connsiteX35" fmla="*/ 5030486 w 5378623"/>
                <a:gd name="connsiteY35" fmla="*/ 3981137 h 6402614"/>
                <a:gd name="connsiteX36" fmla="*/ 5035423 w 5378623"/>
                <a:gd name="connsiteY36" fmla="*/ 3963565 h 6402614"/>
                <a:gd name="connsiteX37" fmla="*/ 5039507 w 5378623"/>
                <a:gd name="connsiteY37" fmla="*/ 3945765 h 6402614"/>
                <a:gd name="connsiteX38" fmla="*/ 5071597 w 5378623"/>
                <a:gd name="connsiteY38" fmla="*/ 3802972 h 6402614"/>
                <a:gd name="connsiteX39" fmla="*/ 5096108 w 5378623"/>
                <a:gd name="connsiteY39" fmla="*/ 3658610 h 6402614"/>
                <a:gd name="connsiteX40" fmla="*/ 5113299 w 5378623"/>
                <a:gd name="connsiteY40" fmla="*/ 3512985 h 6402614"/>
                <a:gd name="connsiteX41" fmla="*/ 5115328 w 5378623"/>
                <a:gd name="connsiteY41" fmla="*/ 3494749 h 6402614"/>
                <a:gd name="connsiteX42" fmla="*/ 5116446 w 5378623"/>
                <a:gd name="connsiteY42" fmla="*/ 3476502 h 6402614"/>
                <a:gd name="connsiteX43" fmla="*/ 5118711 w 5378623"/>
                <a:gd name="connsiteY43" fmla="*/ 3439898 h 6402614"/>
                <a:gd name="connsiteX44" fmla="*/ 5123270 w 5378623"/>
                <a:gd name="connsiteY44" fmla="*/ 3366583 h 6402614"/>
                <a:gd name="connsiteX45" fmla="*/ 5121172 w 5378623"/>
                <a:gd name="connsiteY45" fmla="*/ 3072860 h 6402614"/>
                <a:gd name="connsiteX46" fmla="*/ 5119473 w 5378623"/>
                <a:gd name="connsiteY46" fmla="*/ 3036121 h 6402614"/>
                <a:gd name="connsiteX47" fmla="*/ 5116244 w 5378623"/>
                <a:gd name="connsiteY47" fmla="*/ 2999552 h 6402614"/>
                <a:gd name="connsiteX48" fmla="*/ 5109221 w 5378623"/>
                <a:gd name="connsiteY48" fmla="*/ 2926379 h 6402614"/>
                <a:gd name="connsiteX49" fmla="*/ 5089643 w 5378623"/>
                <a:gd name="connsiteY49" fmla="*/ 2780639 h 6402614"/>
                <a:gd name="connsiteX50" fmla="*/ 5084078 w 5378623"/>
                <a:gd name="connsiteY50" fmla="*/ 2744255 h 6402614"/>
                <a:gd name="connsiteX51" fmla="*/ 5077785 w 5378623"/>
                <a:gd name="connsiteY51" fmla="*/ 2708026 h 6402614"/>
                <a:gd name="connsiteX52" fmla="*/ 5063128 w 5378623"/>
                <a:gd name="connsiteY52" fmla="*/ 2636053 h 6402614"/>
                <a:gd name="connsiteX53" fmla="*/ 5047530 w 5378623"/>
                <a:gd name="connsiteY53" fmla="*/ 2564176 h 6402614"/>
                <a:gd name="connsiteX54" fmla="*/ 5028967 w 5378623"/>
                <a:gd name="connsiteY54" fmla="*/ 2493127 h 6402614"/>
                <a:gd name="connsiteX55" fmla="*/ 4822623 w 5378623"/>
                <a:gd name="connsiteY55" fmla="*/ 1944830 h 6402614"/>
                <a:gd name="connsiteX56" fmla="*/ 4108183 w 5378623"/>
                <a:gd name="connsiteY56" fmla="*/ 1038170 h 6402614"/>
                <a:gd name="connsiteX57" fmla="*/ 3638213 w 5378623"/>
                <a:gd name="connsiteY57" fmla="*/ 712395 h 6402614"/>
                <a:gd name="connsiteX58" fmla="*/ 3575480 w 5378623"/>
                <a:gd name="connsiteY58" fmla="*/ 678662 h 6402614"/>
                <a:gd name="connsiteX59" fmla="*/ 3512574 w 5378623"/>
                <a:gd name="connsiteY59" fmla="*/ 645577 h 6402614"/>
                <a:gd name="connsiteX60" fmla="*/ 3448603 w 5378623"/>
                <a:gd name="connsiteY60" fmla="*/ 614757 h 6402614"/>
                <a:gd name="connsiteX61" fmla="*/ 3416617 w 5378623"/>
                <a:gd name="connsiteY61" fmla="*/ 599347 h 6402614"/>
                <a:gd name="connsiteX62" fmla="*/ 3384352 w 5378623"/>
                <a:gd name="connsiteY62" fmla="*/ 584559 h 6402614"/>
                <a:gd name="connsiteX63" fmla="*/ 3254088 w 5378623"/>
                <a:gd name="connsiteY63" fmla="*/ 529021 h 6402614"/>
                <a:gd name="connsiteX64" fmla="*/ 3121640 w 5378623"/>
                <a:gd name="connsiteY64" fmla="*/ 479505 h 6402614"/>
                <a:gd name="connsiteX65" fmla="*/ 2987193 w 5378623"/>
                <a:gd name="connsiteY65" fmla="*/ 436176 h 6402614"/>
                <a:gd name="connsiteX66" fmla="*/ 2851296 w 5378623"/>
                <a:gd name="connsiteY66" fmla="*/ 398256 h 6402614"/>
                <a:gd name="connsiteX67" fmla="*/ 2573611 w 5378623"/>
                <a:gd name="connsiteY67" fmla="*/ 336717 h 6402614"/>
                <a:gd name="connsiteX68" fmla="*/ 2014208 w 5378623"/>
                <a:gd name="connsiteY68" fmla="*/ 276896 h 6402614"/>
                <a:gd name="connsiteX69" fmla="*/ 1457097 w 5378623"/>
                <a:gd name="connsiteY69" fmla="*/ 322828 h 6402614"/>
                <a:gd name="connsiteX70" fmla="*/ 914684 w 5378623"/>
                <a:gd name="connsiteY70" fmla="*/ 486648 h 6402614"/>
                <a:gd name="connsiteX71" fmla="*/ 848661 w 5378623"/>
                <a:gd name="connsiteY71" fmla="*/ 515093 h 6402614"/>
                <a:gd name="connsiteX72" fmla="*/ 782834 w 5378623"/>
                <a:gd name="connsiteY72" fmla="*/ 544519 h 6402614"/>
                <a:gd name="connsiteX73" fmla="*/ 717715 w 5378623"/>
                <a:gd name="connsiteY73" fmla="*/ 575988 h 6402614"/>
                <a:gd name="connsiteX74" fmla="*/ 653112 w 5378623"/>
                <a:gd name="connsiteY74" fmla="*/ 608523 h 6402614"/>
                <a:gd name="connsiteX75" fmla="*/ 406671 w 5378623"/>
                <a:gd name="connsiteY75" fmla="*/ 756246 h 6402614"/>
                <a:gd name="connsiteX76" fmla="*/ 191033 w 5378623"/>
                <a:gd name="connsiteY76" fmla="*/ 942131 h 6402614"/>
                <a:gd name="connsiteX77" fmla="*/ 143339 w 5378623"/>
                <a:gd name="connsiteY77" fmla="*/ 996006 h 6402614"/>
                <a:gd name="connsiteX78" fmla="*/ 98848 w 5378623"/>
                <a:gd name="connsiteY78" fmla="*/ 1053288 h 6402614"/>
                <a:gd name="connsiteX79" fmla="*/ 56083 w 5378623"/>
                <a:gd name="connsiteY79" fmla="*/ 1112657 h 6402614"/>
                <a:gd name="connsiteX80" fmla="*/ 14889 w 5378623"/>
                <a:gd name="connsiteY80" fmla="*/ 1173837 h 6402614"/>
                <a:gd name="connsiteX81" fmla="*/ 0 w 5378623"/>
                <a:gd name="connsiteY81" fmla="*/ 1198088 h 6402614"/>
                <a:gd name="connsiteX82" fmla="*/ 0 w 5378623"/>
                <a:gd name="connsiteY82" fmla="*/ 888809 h 6402614"/>
                <a:gd name="connsiteX83" fmla="*/ 88781 w 5378623"/>
                <a:gd name="connsiteY83" fmla="*/ 802825 h 6402614"/>
                <a:gd name="connsiteX84" fmla="*/ 2220349 w 5378623"/>
                <a:gd name="connsiteY84" fmla="*/ 67 h 6402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5378623" h="6402614">
                  <a:moveTo>
                    <a:pt x="2220349" y="67"/>
                  </a:moveTo>
                  <a:cubicBezTo>
                    <a:pt x="2484151" y="1784"/>
                    <a:pt x="2751801" y="36820"/>
                    <a:pt x="3018161" y="108191"/>
                  </a:cubicBezTo>
                  <a:cubicBezTo>
                    <a:pt x="4722867" y="564965"/>
                    <a:pt x="5729192" y="2337049"/>
                    <a:pt x="5265831" y="4066338"/>
                  </a:cubicBezTo>
                  <a:cubicBezTo>
                    <a:pt x="4947269" y="5255224"/>
                    <a:pt x="4017004" y="6114300"/>
                    <a:pt x="2912752" y="6386691"/>
                  </a:cubicBezTo>
                  <a:lnTo>
                    <a:pt x="2840648" y="6402614"/>
                  </a:lnTo>
                  <a:lnTo>
                    <a:pt x="1474249" y="6402614"/>
                  </a:lnTo>
                  <a:lnTo>
                    <a:pt x="1340218" y="6370360"/>
                  </a:lnTo>
                  <a:cubicBezTo>
                    <a:pt x="914042" y="6256167"/>
                    <a:pt x="531514" y="6059766"/>
                    <a:pt x="204687" y="5802379"/>
                  </a:cubicBezTo>
                  <a:lnTo>
                    <a:pt x="0" y="5624181"/>
                  </a:lnTo>
                  <a:lnTo>
                    <a:pt x="0" y="5197118"/>
                  </a:lnTo>
                  <a:lnTo>
                    <a:pt x="120950" y="5327736"/>
                  </a:lnTo>
                  <a:cubicBezTo>
                    <a:pt x="253827" y="5458395"/>
                    <a:pt x="397634" y="5575985"/>
                    <a:pt x="553277" y="5674143"/>
                  </a:cubicBezTo>
                  <a:cubicBezTo>
                    <a:pt x="708978" y="5772084"/>
                    <a:pt x="875421" y="5851690"/>
                    <a:pt x="1048951" y="5913372"/>
                  </a:cubicBezTo>
                  <a:cubicBezTo>
                    <a:pt x="1070860" y="5920750"/>
                    <a:pt x="1092382" y="5928719"/>
                    <a:pt x="1114406" y="5935664"/>
                  </a:cubicBezTo>
                  <a:lnTo>
                    <a:pt x="1180375" y="5956470"/>
                  </a:lnTo>
                  <a:lnTo>
                    <a:pt x="1247107" y="5975278"/>
                  </a:lnTo>
                  <a:cubicBezTo>
                    <a:pt x="1269462" y="5981848"/>
                    <a:pt x="1291029" y="5986236"/>
                    <a:pt x="1313053" y="5991905"/>
                  </a:cubicBezTo>
                  <a:cubicBezTo>
                    <a:pt x="1400808" y="6012869"/>
                    <a:pt x="1489584" y="6027036"/>
                    <a:pt x="1578771" y="6035400"/>
                  </a:cubicBezTo>
                  <a:cubicBezTo>
                    <a:pt x="1757312" y="6051941"/>
                    <a:pt x="1937844" y="6040152"/>
                    <a:pt x="2116969" y="6005033"/>
                  </a:cubicBezTo>
                  <a:cubicBezTo>
                    <a:pt x="2296104" y="5969454"/>
                    <a:pt x="2473717" y="5910978"/>
                    <a:pt x="2648341" y="5837212"/>
                  </a:cubicBezTo>
                  <a:cubicBezTo>
                    <a:pt x="2823148" y="5763610"/>
                    <a:pt x="2995347" y="5675863"/>
                    <a:pt x="3166862" y="5582136"/>
                  </a:cubicBezTo>
                  <a:cubicBezTo>
                    <a:pt x="3209843" y="5558645"/>
                    <a:pt x="3252667" y="5534880"/>
                    <a:pt x="3295551" y="5510900"/>
                  </a:cubicBezTo>
                  <a:lnTo>
                    <a:pt x="3426292" y="5437546"/>
                  </a:lnTo>
                  <a:cubicBezTo>
                    <a:pt x="3515217" y="5388460"/>
                    <a:pt x="3604599" y="5341930"/>
                    <a:pt x="3693498" y="5296779"/>
                  </a:cubicBezTo>
                  <a:lnTo>
                    <a:pt x="3957511" y="5162806"/>
                  </a:lnTo>
                  <a:cubicBezTo>
                    <a:pt x="4044259" y="5118005"/>
                    <a:pt x="4129592" y="5072941"/>
                    <a:pt x="4212170" y="5024936"/>
                  </a:cubicBezTo>
                  <a:cubicBezTo>
                    <a:pt x="4294563" y="4976766"/>
                    <a:pt x="4374532" y="4926554"/>
                    <a:pt x="4449651" y="4870986"/>
                  </a:cubicBezTo>
                  <a:cubicBezTo>
                    <a:pt x="4524973" y="4815937"/>
                    <a:pt x="4596075" y="4756163"/>
                    <a:pt x="4659728" y="4689640"/>
                  </a:cubicBezTo>
                  <a:cubicBezTo>
                    <a:pt x="4723566" y="4623283"/>
                    <a:pt x="4780828" y="4550758"/>
                    <a:pt x="4830457" y="4472596"/>
                  </a:cubicBezTo>
                  <a:cubicBezTo>
                    <a:pt x="4880087" y="4394434"/>
                    <a:pt x="4921716" y="4310302"/>
                    <a:pt x="4955705" y="4222268"/>
                  </a:cubicBezTo>
                  <a:lnTo>
                    <a:pt x="4968352" y="4189141"/>
                  </a:lnTo>
                  <a:lnTo>
                    <a:pt x="4979564" y="4155400"/>
                  </a:lnTo>
                  <a:lnTo>
                    <a:pt x="4990913" y="4121577"/>
                  </a:lnTo>
                  <a:cubicBezTo>
                    <a:pt x="4994441" y="4110119"/>
                    <a:pt x="4997522" y="4098194"/>
                    <a:pt x="5000865" y="4086570"/>
                  </a:cubicBezTo>
                  <a:lnTo>
                    <a:pt x="5020612" y="4016281"/>
                  </a:lnTo>
                  <a:lnTo>
                    <a:pt x="5030486" y="3981137"/>
                  </a:lnTo>
                  <a:lnTo>
                    <a:pt x="5035423" y="3963565"/>
                  </a:lnTo>
                  <a:lnTo>
                    <a:pt x="5039507" y="3945765"/>
                  </a:lnTo>
                  <a:cubicBezTo>
                    <a:pt x="5050088" y="3898175"/>
                    <a:pt x="5061308" y="3850756"/>
                    <a:pt x="5071597" y="3802972"/>
                  </a:cubicBezTo>
                  <a:lnTo>
                    <a:pt x="5096108" y="3658610"/>
                  </a:lnTo>
                  <a:cubicBezTo>
                    <a:pt x="5102684" y="3610180"/>
                    <a:pt x="5107604" y="3561536"/>
                    <a:pt x="5113299" y="3512985"/>
                  </a:cubicBezTo>
                  <a:lnTo>
                    <a:pt x="5115328" y="3494749"/>
                  </a:lnTo>
                  <a:lnTo>
                    <a:pt x="5116446" y="3476502"/>
                  </a:lnTo>
                  <a:lnTo>
                    <a:pt x="5118711" y="3439898"/>
                  </a:lnTo>
                  <a:lnTo>
                    <a:pt x="5123270" y="3366583"/>
                  </a:lnTo>
                  <a:cubicBezTo>
                    <a:pt x="5126606" y="3268829"/>
                    <a:pt x="5127431" y="3170634"/>
                    <a:pt x="5121172" y="3072860"/>
                  </a:cubicBezTo>
                  <a:lnTo>
                    <a:pt x="5119473" y="3036121"/>
                  </a:lnTo>
                  <a:cubicBezTo>
                    <a:pt x="5118968" y="3023930"/>
                    <a:pt x="5117310" y="3011778"/>
                    <a:pt x="5116244" y="2999552"/>
                  </a:cubicBezTo>
                  <a:lnTo>
                    <a:pt x="5109221" y="2926379"/>
                  </a:lnTo>
                  <a:cubicBezTo>
                    <a:pt x="5105544" y="2877404"/>
                    <a:pt x="5096760" y="2829145"/>
                    <a:pt x="5089643" y="2780639"/>
                  </a:cubicBezTo>
                  <a:lnTo>
                    <a:pt x="5084078" y="2744255"/>
                  </a:lnTo>
                  <a:cubicBezTo>
                    <a:pt x="5082420" y="2732104"/>
                    <a:pt x="5080412" y="2719974"/>
                    <a:pt x="5077785" y="2708026"/>
                  </a:cubicBezTo>
                  <a:lnTo>
                    <a:pt x="5063128" y="2636053"/>
                  </a:lnTo>
                  <a:cubicBezTo>
                    <a:pt x="5057902" y="2612048"/>
                    <a:pt x="5053511" y="2587920"/>
                    <a:pt x="5047530" y="2564176"/>
                  </a:cubicBezTo>
                  <a:lnTo>
                    <a:pt x="5028967" y="2493127"/>
                  </a:lnTo>
                  <a:cubicBezTo>
                    <a:pt x="4979424" y="2303537"/>
                    <a:pt x="4909775" y="2119458"/>
                    <a:pt x="4822623" y="1944830"/>
                  </a:cubicBezTo>
                  <a:cubicBezTo>
                    <a:pt x="4648947" y="1594931"/>
                    <a:pt x="4401749" y="1285261"/>
                    <a:pt x="4108183" y="1038170"/>
                  </a:cubicBezTo>
                  <a:cubicBezTo>
                    <a:pt x="3961444" y="914460"/>
                    <a:pt x="3803854" y="805232"/>
                    <a:pt x="3638213" y="712395"/>
                  </a:cubicBezTo>
                  <a:lnTo>
                    <a:pt x="3575480" y="678662"/>
                  </a:lnTo>
                  <a:cubicBezTo>
                    <a:pt x="3554450" y="667578"/>
                    <a:pt x="3534194" y="655311"/>
                    <a:pt x="3512574" y="645577"/>
                  </a:cubicBezTo>
                  <a:lnTo>
                    <a:pt x="3448603" y="614757"/>
                  </a:lnTo>
                  <a:lnTo>
                    <a:pt x="3416617" y="599347"/>
                  </a:lnTo>
                  <a:cubicBezTo>
                    <a:pt x="3406000" y="594185"/>
                    <a:pt x="3395413" y="588913"/>
                    <a:pt x="3384352" y="584559"/>
                  </a:cubicBezTo>
                  <a:cubicBezTo>
                    <a:pt x="3340850" y="566062"/>
                    <a:pt x="3297707" y="547083"/>
                    <a:pt x="3254088" y="529021"/>
                  </a:cubicBezTo>
                  <a:cubicBezTo>
                    <a:pt x="3209736" y="512847"/>
                    <a:pt x="3165607" y="496270"/>
                    <a:pt x="3121640" y="479505"/>
                  </a:cubicBezTo>
                  <a:lnTo>
                    <a:pt x="2987193" y="436176"/>
                  </a:lnTo>
                  <a:cubicBezTo>
                    <a:pt x="2942116" y="422708"/>
                    <a:pt x="2896575" y="410968"/>
                    <a:pt x="2851296" y="398256"/>
                  </a:cubicBezTo>
                  <a:cubicBezTo>
                    <a:pt x="2759507" y="375285"/>
                    <a:pt x="2666373" y="353923"/>
                    <a:pt x="2573611" y="336717"/>
                  </a:cubicBezTo>
                  <a:cubicBezTo>
                    <a:pt x="2387776" y="301762"/>
                    <a:pt x="2200839" y="280304"/>
                    <a:pt x="2014208" y="276896"/>
                  </a:cubicBezTo>
                  <a:cubicBezTo>
                    <a:pt x="1827605" y="273381"/>
                    <a:pt x="1641223" y="288238"/>
                    <a:pt x="1457097" y="322828"/>
                  </a:cubicBezTo>
                  <a:cubicBezTo>
                    <a:pt x="1272912" y="357634"/>
                    <a:pt x="1091595" y="413727"/>
                    <a:pt x="914684" y="486648"/>
                  </a:cubicBezTo>
                  <a:lnTo>
                    <a:pt x="848661" y="515093"/>
                  </a:lnTo>
                  <a:cubicBezTo>
                    <a:pt x="826573" y="524592"/>
                    <a:pt x="804281" y="533573"/>
                    <a:pt x="782834" y="544519"/>
                  </a:cubicBezTo>
                  <a:lnTo>
                    <a:pt x="717715" y="575988"/>
                  </a:lnTo>
                  <a:cubicBezTo>
                    <a:pt x="696005" y="586632"/>
                    <a:pt x="673986" y="596729"/>
                    <a:pt x="653112" y="608523"/>
                  </a:cubicBezTo>
                  <a:cubicBezTo>
                    <a:pt x="568070" y="653782"/>
                    <a:pt x="483901" y="700897"/>
                    <a:pt x="406671" y="756246"/>
                  </a:cubicBezTo>
                  <a:cubicBezTo>
                    <a:pt x="327441" y="809669"/>
                    <a:pt x="256836" y="872706"/>
                    <a:pt x="191033" y="942131"/>
                  </a:cubicBezTo>
                  <a:cubicBezTo>
                    <a:pt x="175048" y="959988"/>
                    <a:pt x="159064" y="977846"/>
                    <a:pt x="143339" y="996006"/>
                  </a:cubicBezTo>
                  <a:lnTo>
                    <a:pt x="98848" y="1053288"/>
                  </a:lnTo>
                  <a:cubicBezTo>
                    <a:pt x="83542" y="1072023"/>
                    <a:pt x="70312" y="1092822"/>
                    <a:pt x="56083" y="1112657"/>
                  </a:cubicBezTo>
                  <a:cubicBezTo>
                    <a:pt x="42010" y="1132765"/>
                    <a:pt x="27965" y="1152765"/>
                    <a:pt x="14889" y="1173837"/>
                  </a:cubicBezTo>
                  <a:lnTo>
                    <a:pt x="0" y="1198088"/>
                  </a:lnTo>
                  <a:lnTo>
                    <a:pt x="0" y="888809"/>
                  </a:lnTo>
                  <a:lnTo>
                    <a:pt x="88781" y="802825"/>
                  </a:lnTo>
                  <a:cubicBezTo>
                    <a:pt x="672175" y="289643"/>
                    <a:pt x="1428944" y="-5083"/>
                    <a:pt x="2220349" y="6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aphicFrame>
        <p:nvGraphicFramePr>
          <p:cNvPr id="5" name="내용 개체 틀 2">
            <a:extLst>
              <a:ext uri="{FF2B5EF4-FFF2-40B4-BE49-F238E27FC236}">
                <a16:creationId xmlns:a16="http://schemas.microsoft.com/office/drawing/2014/main" id="{4974F979-0F2A-BA16-D7E4-9F29B13EC3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1979237"/>
              </p:ext>
            </p:extLst>
          </p:nvPr>
        </p:nvGraphicFramePr>
        <p:xfrm>
          <a:off x="6355080" y="955653"/>
          <a:ext cx="5029200" cy="49478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6890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445</Words>
  <Application>Microsoft Office PowerPoint</Application>
  <PresentationFormat>와이드스크린</PresentationFormat>
  <Paragraphs>37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Arial Unicode MS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이규영</dc:creator>
  <cp:lastModifiedBy>이규영</cp:lastModifiedBy>
  <cp:revision>1</cp:revision>
  <dcterms:created xsi:type="dcterms:W3CDTF">2025-07-01T03:40:33Z</dcterms:created>
  <dcterms:modified xsi:type="dcterms:W3CDTF">2025-07-01T03:42:56Z</dcterms:modified>
</cp:coreProperties>
</file>